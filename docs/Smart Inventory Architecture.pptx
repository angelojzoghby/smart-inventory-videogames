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8" r:id="rId12"/>
    <p:sldId id="269" r:id="rId13"/>
    <p:sldId id="270" r:id="rId14"/>
    <p:sldId id="271" r:id="rId15"/>
    <p:sldId id="272" r:id="rId16"/>
    <p:sldId id="273" r:id="rId17"/>
    <p:sldId id="265" r:id="rId18"/>
  </p:sldIdLst>
  <p:sldSz cx="12192000" cy="6858000"/>
  <p:notesSz cx="6858000" cy="9144000"/>
  <p:embeddedFontLs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Rajdhani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4D0F8E-3A38-40A6-9342-8B8BF8ECC7BE}">
  <a:tblStyle styleId="{834D0F8E-3A38-40A6-9342-8B8BF8ECC7B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FFB0FA38-EDE6-AE3F-6BC8-E344A6553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>
            <a:extLst>
              <a:ext uri="{FF2B5EF4-FFF2-40B4-BE49-F238E27FC236}">
                <a16:creationId xmlns:a16="http://schemas.microsoft.com/office/drawing/2014/main" id="{811AED0A-42CB-800F-8BDC-D8827B296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828246B7-6173-F543-E971-E6A1202AF2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9911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10614" y="2179290"/>
            <a:ext cx="6170771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SMART INVENTORY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FOR VIDEO GAMES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838575" y="4084290"/>
            <a:ext cx="45148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System Architecture &amp; Technical Overview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2705100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CORE TECHNOLOGIES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66775" y="311467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FastAPI (Python) with asynchronous endpoints.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86715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React.js (Vite) with CSS modules.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431482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Database: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MongoDB with GridFS for image storage.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476250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Integration: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Random Forest &amp; Custom Image Classifiers.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SYSTEM OVERVIEW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81025" y="13620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527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9052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3529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800600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6381750" y="2000250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FASTAPI IMPLEMENTATION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381750" y="240982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backend is built for speed and scalability using Python's FastAPI framework.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667500" y="32099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Async Architecture: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Non-blocking API endpoints for high performance.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667500" y="396240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Custom DB Layer: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Direct integration with MongoDB via a dedicated service layer.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667500" y="471487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GridFS: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specialized handling for large game cover files.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67500" y="546735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ML Pipeline: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Prediction models are embedded directly into backend services.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BACKEND ARCHITECTURE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81025" y="13620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2480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0005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7529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5505450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" name="Google Shape;130;p16"/>
          <p:cNvGraphicFramePr/>
          <p:nvPr/>
        </p:nvGraphicFramePr>
        <p:xfrm>
          <a:off x="581025" y="2537519"/>
          <a:ext cx="11010900" cy="3154500"/>
        </p:xfrm>
        <a:graphic>
          <a:graphicData uri="http://schemas.openxmlformats.org/drawingml/2006/table">
            <a:tbl>
              <a:tblPr firstRow="1" bandRow="1">
                <a:noFill/>
                <a:tableStyleId>{834D0F8E-3A38-40A6-9342-8B8BF8ECC7BE}</a:tableStyleId>
              </a:tblPr>
              <a:tblGrid>
                <a:gridCol w="199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Method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Endpoint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Images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/upload-image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Upload game cover to GridFS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Inventory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/inventory/add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Add new product to collection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Inventory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/inventory/list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Retrieve all products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Prediction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/predict-price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AI price regression 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1" name="Google Shape;131;p16"/>
          <p:cNvSpPr/>
          <p:nvPr/>
        </p:nvSpPr>
        <p:spPr>
          <a:xfrm>
            <a:off x="590550" y="3175694"/>
            <a:ext cx="19941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2584698" y="3175694"/>
            <a:ext cx="15357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4120455" y="3175694"/>
            <a:ext cx="27216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842075" y="3175694"/>
            <a:ext cx="47593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90550" y="3802409"/>
            <a:ext cx="19941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2584698" y="3802409"/>
            <a:ext cx="153575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120455" y="3802409"/>
            <a:ext cx="27216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842075" y="3802409"/>
            <a:ext cx="47593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90550" y="4429125"/>
            <a:ext cx="19941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584698" y="4429125"/>
            <a:ext cx="153575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4120455" y="4429125"/>
            <a:ext cx="27216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842075" y="4429125"/>
            <a:ext cx="47593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90550" y="5055840"/>
            <a:ext cx="19941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2584698" y="5055840"/>
            <a:ext cx="153575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120455" y="5055840"/>
            <a:ext cx="27216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842075" y="5055840"/>
            <a:ext cx="47593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API SPECIFICATION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81025" y="13620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Shape 128">
          <a:extLst>
            <a:ext uri="{FF2B5EF4-FFF2-40B4-BE49-F238E27FC236}">
              <a16:creationId xmlns:a16="http://schemas.microsoft.com/office/drawing/2014/main" id="{F2938835-6998-6886-B2DE-3B3EFB47A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>
            <a:extLst>
              <a:ext uri="{FF2B5EF4-FFF2-40B4-BE49-F238E27FC236}">
                <a16:creationId xmlns:a16="http://schemas.microsoft.com/office/drawing/2014/main" id="{F54ABC58-F864-F781-FDC0-B1AC754BA6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" name="Google Shape;130;p16">
            <a:extLst>
              <a:ext uri="{FF2B5EF4-FFF2-40B4-BE49-F238E27FC236}">
                <a16:creationId xmlns:a16="http://schemas.microsoft.com/office/drawing/2014/main" id="{37B9CF7F-12EC-6DEF-B50A-3B06A33C6A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301746"/>
              </p:ext>
            </p:extLst>
          </p:nvPr>
        </p:nvGraphicFramePr>
        <p:xfrm>
          <a:off x="581025" y="2537519"/>
          <a:ext cx="11010900" cy="3154500"/>
        </p:xfrm>
        <a:graphic>
          <a:graphicData uri="http://schemas.openxmlformats.org/drawingml/2006/table">
            <a:tbl>
              <a:tblPr firstRow="1" bandRow="1">
                <a:noFill/>
                <a:tableStyleId>{834D0F8E-3A38-40A6-9342-8B8BF8ECC7BE}</a:tableStyleId>
              </a:tblPr>
              <a:tblGrid>
                <a:gridCol w="199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Method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Endpoint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Courier New"/>
                          <a:cs typeface="Courier New"/>
                          <a:sym typeface="Courier New"/>
                        </a:rPr>
                        <a:t>Inventory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/inventory/find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Courier New"/>
                          <a:cs typeface="Courier New"/>
                          <a:sym typeface="Courier New"/>
                        </a:rPr>
                        <a:t>Check if a product already exists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Inventory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/inventory/update-quantity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Update quantity of product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Inventory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/inventory//inventory/delete/{</a:t>
                      </a:r>
                      <a:r>
                        <a:rPr lang="en-US" sz="1350" b="0" i="0" u="none" strike="noStrike" cap="none" dirty="0" err="1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product_id</a:t>
                      </a: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BD5E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Delete a product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9ABCBD6C-4BEB-603E-A042-37EBFC1F4265}"/>
              </a:ext>
            </a:extLst>
          </p:cNvPr>
          <p:cNvSpPr/>
          <p:nvPr/>
        </p:nvSpPr>
        <p:spPr>
          <a:xfrm>
            <a:off x="590550" y="3175694"/>
            <a:ext cx="19941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DC84DA36-A22D-DA5E-FE98-BB99360288E6}"/>
              </a:ext>
            </a:extLst>
          </p:cNvPr>
          <p:cNvSpPr/>
          <p:nvPr/>
        </p:nvSpPr>
        <p:spPr>
          <a:xfrm>
            <a:off x="2584698" y="3175694"/>
            <a:ext cx="15357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>
            <a:extLst>
              <a:ext uri="{FF2B5EF4-FFF2-40B4-BE49-F238E27FC236}">
                <a16:creationId xmlns:a16="http://schemas.microsoft.com/office/drawing/2014/main" id="{D05FC244-98EA-346E-3410-0C3C576FB426}"/>
              </a:ext>
            </a:extLst>
          </p:cNvPr>
          <p:cNvSpPr/>
          <p:nvPr/>
        </p:nvSpPr>
        <p:spPr>
          <a:xfrm>
            <a:off x="4120455" y="3175694"/>
            <a:ext cx="27216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5668F75A-0CD2-85D1-DF51-C766F15E264B}"/>
              </a:ext>
            </a:extLst>
          </p:cNvPr>
          <p:cNvSpPr/>
          <p:nvPr/>
        </p:nvSpPr>
        <p:spPr>
          <a:xfrm>
            <a:off x="6842075" y="3175694"/>
            <a:ext cx="47593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>
            <a:extLst>
              <a:ext uri="{FF2B5EF4-FFF2-40B4-BE49-F238E27FC236}">
                <a16:creationId xmlns:a16="http://schemas.microsoft.com/office/drawing/2014/main" id="{8E38B8D6-0E1C-DA4B-84AE-D0CA68C504C7}"/>
              </a:ext>
            </a:extLst>
          </p:cNvPr>
          <p:cNvSpPr/>
          <p:nvPr/>
        </p:nvSpPr>
        <p:spPr>
          <a:xfrm>
            <a:off x="590550" y="3802409"/>
            <a:ext cx="19941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42BA68E-1963-B160-254A-D4112F412842}"/>
              </a:ext>
            </a:extLst>
          </p:cNvPr>
          <p:cNvSpPr/>
          <p:nvPr/>
        </p:nvSpPr>
        <p:spPr>
          <a:xfrm>
            <a:off x="2584698" y="3802409"/>
            <a:ext cx="153575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3FE9E636-EC83-88E2-D5B4-921FBC9931D2}"/>
              </a:ext>
            </a:extLst>
          </p:cNvPr>
          <p:cNvSpPr/>
          <p:nvPr/>
        </p:nvSpPr>
        <p:spPr>
          <a:xfrm>
            <a:off x="4120455" y="3802409"/>
            <a:ext cx="27216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5F82F6D2-5F1F-B1F7-70A8-348B006D162E}"/>
              </a:ext>
            </a:extLst>
          </p:cNvPr>
          <p:cNvSpPr/>
          <p:nvPr/>
        </p:nvSpPr>
        <p:spPr>
          <a:xfrm>
            <a:off x="6842075" y="3802409"/>
            <a:ext cx="47593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>
            <a:extLst>
              <a:ext uri="{FF2B5EF4-FFF2-40B4-BE49-F238E27FC236}">
                <a16:creationId xmlns:a16="http://schemas.microsoft.com/office/drawing/2014/main" id="{FA960CF3-F50D-8EF0-C187-CA7C8AC4E0D7}"/>
              </a:ext>
            </a:extLst>
          </p:cNvPr>
          <p:cNvSpPr/>
          <p:nvPr/>
        </p:nvSpPr>
        <p:spPr>
          <a:xfrm>
            <a:off x="590550" y="4429125"/>
            <a:ext cx="19941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698D29B6-03CC-D74D-71BD-D7E97D4820B2}"/>
              </a:ext>
            </a:extLst>
          </p:cNvPr>
          <p:cNvSpPr/>
          <p:nvPr/>
        </p:nvSpPr>
        <p:spPr>
          <a:xfrm>
            <a:off x="2584698" y="4429125"/>
            <a:ext cx="153575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8882DC39-983B-0D3A-07C3-9DEFB5B6A024}"/>
              </a:ext>
            </a:extLst>
          </p:cNvPr>
          <p:cNvSpPr/>
          <p:nvPr/>
        </p:nvSpPr>
        <p:spPr>
          <a:xfrm>
            <a:off x="4120455" y="4429125"/>
            <a:ext cx="27216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8CC9E9B4-F994-F725-2207-5ED1C23DF8D1}"/>
              </a:ext>
            </a:extLst>
          </p:cNvPr>
          <p:cNvSpPr/>
          <p:nvPr/>
        </p:nvSpPr>
        <p:spPr>
          <a:xfrm>
            <a:off x="6842075" y="4429125"/>
            <a:ext cx="47593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>
            <a:extLst>
              <a:ext uri="{FF2B5EF4-FFF2-40B4-BE49-F238E27FC236}">
                <a16:creationId xmlns:a16="http://schemas.microsoft.com/office/drawing/2014/main" id="{5F240FDF-9261-7587-6710-76A8EDEDB01A}"/>
              </a:ext>
            </a:extLst>
          </p:cNvPr>
          <p:cNvSpPr/>
          <p:nvPr/>
        </p:nvSpPr>
        <p:spPr>
          <a:xfrm>
            <a:off x="590550" y="5055840"/>
            <a:ext cx="19941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>
            <a:extLst>
              <a:ext uri="{FF2B5EF4-FFF2-40B4-BE49-F238E27FC236}">
                <a16:creationId xmlns:a16="http://schemas.microsoft.com/office/drawing/2014/main" id="{590DE61D-2564-DEC0-497E-9A1AF8043711}"/>
              </a:ext>
            </a:extLst>
          </p:cNvPr>
          <p:cNvSpPr/>
          <p:nvPr/>
        </p:nvSpPr>
        <p:spPr>
          <a:xfrm>
            <a:off x="2584698" y="5055840"/>
            <a:ext cx="153575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715F3942-8139-204F-A5C9-CD7A9B6D28DF}"/>
              </a:ext>
            </a:extLst>
          </p:cNvPr>
          <p:cNvSpPr/>
          <p:nvPr/>
        </p:nvSpPr>
        <p:spPr>
          <a:xfrm>
            <a:off x="4120455" y="5055840"/>
            <a:ext cx="27216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>
            <a:extLst>
              <a:ext uri="{FF2B5EF4-FFF2-40B4-BE49-F238E27FC236}">
                <a16:creationId xmlns:a16="http://schemas.microsoft.com/office/drawing/2014/main" id="{6024439B-1A85-91EA-57AD-3BF7968FD817}"/>
              </a:ext>
            </a:extLst>
          </p:cNvPr>
          <p:cNvSpPr/>
          <p:nvPr/>
        </p:nvSpPr>
        <p:spPr>
          <a:xfrm>
            <a:off x="6842075" y="5055840"/>
            <a:ext cx="47593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B39BDCEE-8765-AE5F-9313-4D67912E0284}"/>
              </a:ext>
            </a:extLst>
          </p:cNvPr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API SPECIFICATION</a:t>
            </a:r>
            <a:endParaRPr/>
          </a:p>
        </p:txBody>
      </p:sp>
      <p:sp>
        <p:nvSpPr>
          <p:cNvPr id="148" name="Google Shape;148;p16">
            <a:extLst>
              <a:ext uri="{FF2B5EF4-FFF2-40B4-BE49-F238E27FC236}">
                <a16:creationId xmlns:a16="http://schemas.microsoft.com/office/drawing/2014/main" id="{05AE1DF9-1A2D-A73B-08FA-0431AD15810B}"/>
              </a:ext>
            </a:extLst>
          </p:cNvPr>
          <p:cNvSpPr/>
          <p:nvPr/>
        </p:nvSpPr>
        <p:spPr>
          <a:xfrm>
            <a:off x="581025" y="13620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8980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71687"/>
            <a:ext cx="52292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81025" y="1952625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1. IMAGE CLASSIFICATION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81025" y="2362200"/>
            <a:ext cx="52292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game_classifier.pth</a:t>
            </a:r>
            <a:endParaRPr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581025" y="3905250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2. PRICE PREDICTION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81025" y="4314825"/>
            <a:ext cx="52292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random_forest_price_predictor.joblib</a:t>
            </a:r>
            <a:endParaRPr/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81212"/>
            <a:ext cx="21812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866775" y="286702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Analyzes uploaded cover art.</a:t>
            </a:r>
            <a:endParaRPr dirty="0"/>
          </a:p>
        </p:txBody>
      </p:sp>
      <p:sp>
        <p:nvSpPr>
          <p:cNvPr id="161" name="Google Shape;161;p17"/>
          <p:cNvSpPr txBox="1"/>
          <p:nvPr/>
        </p:nvSpPr>
        <p:spPr>
          <a:xfrm>
            <a:off x="866775" y="331470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Predicts Game Title and Genre tags.</a:t>
            </a:r>
            <a:endParaRPr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866775" y="481965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Title, Genre, DLC status, F2P, GamePass.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66775" y="52673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Maps base prices and applies genre-based one-hot encoding.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66775" y="601980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Output: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Suggested market price (Float).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ARTIFICIAL INTELLIGENCE INTEGRATION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581025" y="13620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9051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3528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8577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3054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6057900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81025" y="581025"/>
            <a:ext cx="564070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FRONTEND EXPERIENCE</a:t>
            </a:r>
            <a:endParaRPr dirty="0"/>
          </a:p>
        </p:txBody>
      </p:sp>
      <p:sp>
        <p:nvSpPr>
          <p:cNvPr id="178" name="Google Shape;178;p18"/>
          <p:cNvSpPr/>
          <p:nvPr/>
        </p:nvSpPr>
        <p:spPr>
          <a:xfrm>
            <a:off x="581025" y="1362075"/>
            <a:ext cx="53721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81025" y="1862137"/>
            <a:ext cx="564070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INTERACTIVE DASHBOARD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81025" y="2271712"/>
            <a:ext cx="5372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Built with React.js and Vite, the UI focuses on efficiency and real-time feedback.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66775" y="3224212"/>
            <a:ext cx="5086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Drag-and-Drop: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Seamless cover upload with auto-detection.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66775" y="3976687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AI: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Instant price predictions as data is entered.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66775" y="4424362"/>
            <a:ext cx="5086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Live Inventory: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Dynamic table displaying Quantity, Price, and Type.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66775" y="5176837"/>
            <a:ext cx="5086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Direct Actions: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Modify stock or prices directly from the card view.</a:t>
            </a:r>
            <a:endParaRPr/>
          </a:p>
        </p:txBody>
      </p:sp>
      <p:pic>
        <p:nvPicPr>
          <p:cNvPr id="186" name="Google Shape;18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6231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014787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46246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214937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81025"/>
            <a:ext cx="6154072" cy="56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/>
          <p:nvPr/>
        </p:nvSpPr>
        <p:spPr>
          <a:xfrm>
            <a:off x="3181810" y="1869705"/>
            <a:ext cx="95250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-192421" y="2224571"/>
            <a:ext cx="770096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DATABASE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 ARCHITECTURE</a:t>
            </a:r>
            <a:endParaRPr dirty="0"/>
          </a:p>
        </p:txBody>
      </p:sp>
      <p:sp>
        <p:nvSpPr>
          <p:cNvPr id="198" name="Google Shape;198;p19"/>
          <p:cNvSpPr txBox="1"/>
          <p:nvPr/>
        </p:nvSpPr>
        <p:spPr>
          <a:xfrm>
            <a:off x="2081673" y="4122248"/>
            <a:ext cx="3152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MongoDB &amp;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GridFS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Implementation</a:t>
            </a:r>
            <a:endParaRPr dirty="0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8535E82-4E5C-5BF1-A301-FA282787F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628" y="356419"/>
            <a:ext cx="5028507" cy="61451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34704"/>
            <a:ext cx="3486150" cy="2960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634704"/>
            <a:ext cx="3486150" cy="2960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634704"/>
            <a:ext cx="3486150" cy="2960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43100" y="292997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1859041" y="3882479"/>
            <a:ext cx="93011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IDENTITY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1352550" y="4415879"/>
            <a:ext cx="19431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product_id: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UUID String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product_name: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Normalized</a:t>
            </a:r>
            <a:endParaRPr/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0" y="292997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5190886" y="3882479"/>
            <a:ext cx="181022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PRICING &amp; STOCK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5314950" y="4415879"/>
            <a:ext cx="15621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price_predicted: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Float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price_modified: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Float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quantity: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Integer</a:t>
            </a:r>
            <a:endParaRPr/>
          </a:p>
        </p:txBody>
      </p:sp>
      <p:pic>
        <p:nvPicPr>
          <p:cNvPr id="213" name="Google Shape;21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86900" y="292997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9462849" y="3882479"/>
            <a:ext cx="81010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ASSETS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8896350" y="4415879"/>
            <a:ext cx="19431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image_id: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GridFS Object ID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product_type: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"Game"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date_added: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ISODate</a:t>
            </a:r>
            <a:endParaRPr/>
          </a:p>
        </p:txBody>
      </p:sp>
      <p:pic>
        <p:nvPicPr>
          <p:cNvPr id="216" name="Google Shape;21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33600" y="31204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29312" y="312047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77400" y="312047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SCHEMA: PRODUCTS COLLECTION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581025" y="13620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/>
          <p:nvPr/>
        </p:nvSpPr>
        <p:spPr>
          <a:xfrm>
            <a:off x="581025" y="3680519"/>
            <a:ext cx="11029950" cy="3810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1706463" y="3537644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517605" y="4013894"/>
            <a:ext cx="266361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1. UPLOAD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581025" y="4432994"/>
            <a:ext cx="2536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Image sent via POST to backend endpoint.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4537471" y="3537644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3348614" y="4013894"/>
            <a:ext cx="266361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2. PROCESS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3412033" y="4432994"/>
            <a:ext cx="2536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Backend validates and passes file to GridFS.</a:t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7368480" y="3537644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179622" y="4013894"/>
            <a:ext cx="266361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3. STORE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243042" y="4432994"/>
            <a:ext cx="25367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GridFS saves chunks and returns unique ObjectId.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10199489" y="3537644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9010631" y="4013894"/>
            <a:ext cx="266361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4. RETRIEVE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9074050" y="4432994"/>
            <a:ext cx="2536775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Frontend fetches via /image/.</a:t>
            </a:r>
            <a:endParaRPr dirty="0"/>
          </a:p>
        </p:txBody>
      </p:sp>
      <p:sp>
        <p:nvSpPr>
          <p:cNvPr id="239" name="Google Shape;239;p21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IMAGE STORAGE DATA FLOW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581025" y="13620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2412-B4D3-E63A-7D91-B3A848B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2114-2746-A1B4-E6E1-C898F8579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Choice of the classification model:</a:t>
            </a:r>
            <a:br>
              <a:rPr lang="en-US" dirty="0"/>
            </a:b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EfficientNet-B0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dirty="0"/>
              <a:t>Since the Dataset is poor :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Transfer Learning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uses weights pre-trained on the massive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ImageNet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dataset</a:t>
            </a:r>
          </a:p>
          <a:p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EfficientNet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is a modern architecture known for being state-of-the-art in both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accuracy and efficiency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850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15319-CFC3-732C-9876-BD6E8332C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dataAugmentation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5B89B-A961-68C6-DB21-9CD95110A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our Dataset is small basic augmentation to change images and have different images is needed we used:</a:t>
            </a:r>
          </a:p>
          <a:p>
            <a:r>
              <a:rPr lang="en-US" dirty="0"/>
              <a:t>Random Horizontal Flip</a:t>
            </a:r>
          </a:p>
          <a:p>
            <a:r>
              <a:rPr lang="en-US" dirty="0"/>
              <a:t>Random Rotation</a:t>
            </a:r>
          </a:p>
          <a:p>
            <a:r>
              <a:rPr lang="en-US" dirty="0"/>
              <a:t>Color Jitter</a:t>
            </a:r>
          </a:p>
          <a:p>
            <a:r>
              <a:rPr lang="en-US" dirty="0"/>
              <a:t>Random Erasing</a:t>
            </a:r>
          </a:p>
        </p:txBody>
      </p:sp>
    </p:spTree>
    <p:extLst>
      <p:ext uri="{BB962C8B-B14F-4D97-AF65-F5344CB8AC3E}">
        <p14:creationId xmlns:p14="http://schemas.microsoft.com/office/powerpoint/2010/main" val="174807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8749F-4198-C943-31CE-FC52C2A49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6F408-E30F-1523-ACF7-FA584D28A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Choice was the Random forest regressor</a:t>
            </a:r>
          </a:p>
          <a:p>
            <a:r>
              <a:rPr lang="en-US" dirty="0"/>
              <a:t>Non Linear (Price prediction doesn’t work with linear regression)</a:t>
            </a:r>
          </a:p>
          <a:p>
            <a:r>
              <a:rPr lang="en-US" dirty="0"/>
              <a:t>Low Risk of Overfitting: Although individual decision trees are prone to overfitting, the Random Forest aggregates many trees, each trained on a random subset of data and features. This process of bagging (Bootstrap Aggregating) significantly reduces variance and prevents the model from memorizing the noise in your training data.</a:t>
            </a:r>
          </a:p>
          <a:p>
            <a:r>
              <a:rPr lang="en-US" dirty="0"/>
              <a:t>Random Forest Regressor provides an ideal balance of predictive power, robustness against overfitting, and ease of implementation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466918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18ED-9006-3E19-2F41-A071623CE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28618-FE0E-10F6-FF4C-64C1272CA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Major Columns were the title column which means (The Game Name) and the Genres column which means (The Game Type) and these were the output of the classification model</a:t>
            </a:r>
          </a:p>
          <a:p>
            <a:r>
              <a:rPr lang="en-US" dirty="0"/>
              <a:t>As for helping values we added:</a:t>
            </a:r>
          </a:p>
          <a:p>
            <a:r>
              <a:rPr lang="en-US" dirty="0" err="1"/>
              <a:t>HasDLC</a:t>
            </a:r>
            <a:r>
              <a:rPr lang="en-US" dirty="0"/>
              <a:t> (To check if it comes with the DLC or it is only base game)</a:t>
            </a:r>
          </a:p>
          <a:p>
            <a:r>
              <a:rPr lang="en-US" dirty="0"/>
              <a:t>IsF2p ( Means if it comes with a franchise/pack </a:t>
            </a:r>
            <a:r>
              <a:rPr lang="en-US" dirty="0" err="1"/>
              <a:t>eg</a:t>
            </a:r>
            <a:r>
              <a:rPr lang="en-US" dirty="0"/>
              <a:t>: Resident Evil Pack Contains Resident Evil 1, 2,3,4 …)</a:t>
            </a:r>
          </a:p>
          <a:p>
            <a:r>
              <a:rPr lang="en-US" dirty="0" err="1"/>
              <a:t>IsOnGamePass</a:t>
            </a:r>
            <a:r>
              <a:rPr lang="en-US" dirty="0"/>
              <a:t> ( Maybe the game is offered on game pass for free so the price will be that of the </a:t>
            </a:r>
            <a:r>
              <a:rPr lang="en-US" dirty="0" err="1"/>
              <a:t>gamepass</a:t>
            </a:r>
            <a:r>
              <a:rPr lang="en-US" dirty="0"/>
              <a:t>)</a:t>
            </a:r>
          </a:p>
          <a:p>
            <a:r>
              <a:rPr lang="en-US" dirty="0" err="1"/>
              <a:t>IsonDiscount</a:t>
            </a:r>
            <a:r>
              <a:rPr lang="en-US" dirty="0"/>
              <a:t> (When there are any promos or offers so the price drops)</a:t>
            </a:r>
          </a:p>
        </p:txBody>
      </p:sp>
    </p:spTree>
    <p:extLst>
      <p:ext uri="{BB962C8B-B14F-4D97-AF65-F5344CB8AC3E}">
        <p14:creationId xmlns:p14="http://schemas.microsoft.com/office/powerpoint/2010/main" val="2965514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635EF-F556-A188-A8EA-7AB9D9A28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5497FC-E099-308F-6AB2-558E5FE9E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3977" y="2807507"/>
            <a:ext cx="5744377" cy="2819794"/>
          </a:xfrm>
        </p:spPr>
      </p:pic>
    </p:spTree>
    <p:extLst>
      <p:ext uri="{BB962C8B-B14F-4D97-AF65-F5344CB8AC3E}">
        <p14:creationId xmlns:p14="http://schemas.microsoft.com/office/powerpoint/2010/main" val="1184984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6FAE-6F61-BEE4-B5F2-AE2E12613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Dataset sample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3F482A-41D0-F095-E345-0FECD3909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039" y="3768365"/>
            <a:ext cx="4331225" cy="132615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1DB3CA-FA09-FFFE-F87F-E87AF8350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4331225" cy="17815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665CA2-AD4B-4258-C9BD-1B5F8F07CA34}"/>
              </a:ext>
            </a:extLst>
          </p:cNvPr>
          <p:cNvSpPr txBox="1"/>
          <p:nvPr/>
        </p:nvSpPr>
        <p:spPr>
          <a:xfrm>
            <a:off x="961053" y="2920482"/>
            <a:ext cx="2939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Genres Folders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33E6BB-8B04-C584-38E0-FADAD67C0A3C}"/>
              </a:ext>
            </a:extLst>
          </p:cNvPr>
          <p:cNvSpPr txBox="1"/>
          <p:nvPr/>
        </p:nvSpPr>
        <p:spPr>
          <a:xfrm>
            <a:off x="6326155" y="2519265"/>
            <a:ext cx="3722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of the folders found in the Adventure folder</a:t>
            </a:r>
          </a:p>
        </p:txBody>
      </p:sp>
    </p:spTree>
    <p:extLst>
      <p:ext uri="{BB962C8B-B14F-4D97-AF65-F5344CB8AC3E}">
        <p14:creationId xmlns:p14="http://schemas.microsoft.com/office/powerpoint/2010/main" val="3410707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4050744" y="2436465"/>
            <a:ext cx="4090511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QUESTIONS?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3495675" y="3827115"/>
            <a:ext cx="52006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759</Words>
  <Application>Microsoft Office PowerPoint</Application>
  <PresentationFormat>Widescreen</PresentationFormat>
  <Paragraphs>117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Inter</vt:lpstr>
      <vt:lpstr>Rajdhani</vt:lpstr>
      <vt:lpstr>Courier New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Classification Model</vt:lpstr>
      <vt:lpstr>dataAugmentation</vt:lpstr>
      <vt:lpstr>Regression Model</vt:lpstr>
      <vt:lpstr>Dataset used</vt:lpstr>
      <vt:lpstr>Dataset Sample</vt:lpstr>
      <vt:lpstr>Classification Dataset sample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Angelo Zoghbi</cp:lastModifiedBy>
  <cp:revision>2</cp:revision>
  <dcterms:modified xsi:type="dcterms:W3CDTF">2025-12-03T09:39:27Z</dcterms:modified>
</cp:coreProperties>
</file>